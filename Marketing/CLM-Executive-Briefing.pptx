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4D5F7A"/>
              </a:solidFill>
            </c:spPr>
          </c:dPt>
          <c:dPt>
            <c:idx val="1"/>
            <c:spPr>
              <a:solidFill>
                <a:srgbClr val="4D5F7A"/>
              </a:solidFill>
            </c:spPr>
          </c:dPt>
          <c:dPt>
            <c:idx val="2"/>
            <c:spPr>
              <a:solidFill>
                <a:srgbClr val="2CC5AD"/>
              </a:solidFill>
            </c:spPr>
          </c:dPt>
          <c:cat>
            <c:strRef>
              <c:f>Sheet1!$A$2:$A$4</c:f>
              <c:strCache>
                <c:ptCount val="3"/>
                <c:pt idx="0">
                  <c:v>Always guess the commonest label</c:v>
                </c:pt>
                <c:pt idx="1">
                  <c:v>Same reader, no training</c:v>
                </c:pt>
                <c:pt idx="2">
                  <c:v>Trained CLM model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57</c:v>
                </c:pt>
                <c:pt idx="2">
                  <c:v>88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600" b="1">
                  <a:solidFill>
                    <a:srgbClr val="F3F6F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4D5F7A"/>
            </a:solidFill>
          </a:ln>
        </c:spPr>
        <c:txPr>
          <a:bodyPr/>
          <a:lstStyle/>
          <a:p>
            <a:pPr>
              <a:defRPr sz="1600">
                <a:solidFill>
                  <a:srgbClr val="F3F6F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2.00000000000001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F0A04B"/>
              </a:solidFill>
            </c:spPr>
          </c:dPt>
          <c:dPt>
            <c:idx val="1"/>
            <c:spPr>
              <a:solidFill>
                <a:srgbClr val="4D5F7A"/>
              </a:solidFill>
            </c:spPr>
          </c:dPt>
          <c:dPt>
            <c:idx val="2"/>
            <c:spPr>
              <a:solidFill>
                <a:srgbClr val="4D5F7A"/>
              </a:solidFill>
            </c:spPr>
          </c:dPt>
          <c:dPt>
            <c:idx val="3"/>
            <c:spPr>
              <a:solidFill>
                <a:srgbClr val="2CC5AD"/>
              </a:solidFill>
            </c:spPr>
          </c:dPt>
          <c:cat>
            <c:strRef>
              <c:f>Sheet1!$A$2:$A$5</c:f>
              <c:strCache>
                <c:ptCount val="4"/>
                <c:pt idx="0">
                  <c:v>Opus 5.5</c:v>
                </c:pt>
                <c:pt idx="1">
                  <c:v>Sonnet 5.5</c:v>
                </c:pt>
                <c:pt idx="2">
                  <c:v>Haiku 5.5</c:v>
                </c:pt>
                <c:pt idx="3">
                  <c:v>CLM on own hardware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2320.0</c:v>
                </c:pt>
                <c:pt idx="1">
                  <c:v>1160.0</c:v>
                </c:pt>
                <c:pt idx="2">
                  <c:v>58.0</c:v>
                </c:pt>
                <c:pt idx="3">
                  <c:v>7.610350076103501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1600" b="1">
                  <a:solidFill>
                    <a:srgbClr val="F3F6F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4D5F7A"/>
            </a:solidFill>
          </a:ln>
        </c:spPr>
        <c:txPr>
          <a:bodyPr/>
          <a:lstStyle/>
          <a:p>
            <a:pPr>
              <a:defRPr sz="1600">
                <a:solidFill>
                  <a:srgbClr val="F3F6F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98.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day our teams route tickets, tag documents and triage alerts, and many now send each decision to a frontier language model. Here's when a small trained classifier does that job better: cheaper, faster, and inside our walls.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Classification at volume is millions of short, repetitive decisions with fixed labels and past examples. What matters is speed, cost per decision, privacy and consistency. A frontier model is a brilliant generalist, but we pay per token, and every request leaves the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 L M splits the work. An NVIDIA Nemotron model reads each text and never changes. A small model on top learns our labels from our own examples, in minutes, from a browser. We get a probability for every label, in milliseconds, on our own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a ticket-routing demo, a model trained on three hundred examples gets eighty-eight to ninety-six percent of unseen tickets right. Untrained, the same reader manages fifty-seven percent. The demo data is synthetic, so the real test is our own data, against a frontier model, with the included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It's fast: a median of thirty-three milliseconds on one laptop, with no network hop, queue or rate limit. One laptop handles about thirty-six answers a second, roughly three million a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it's cheap. A million decisions take about eight hours of laptop compute, around eight dollars. At list prices, the same million tickets cost about fifty-eight dollars on the smallest frontier model, and over a thousand on the larger ones. Conservative estimates, for the frontier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stays ours. Texts never leave our machines, the same input gives the same answer, and every model is a verified file we can export to disk or S3, with a governance pack in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each where it's strongest. C L M for fixed labels, high volume, and fast, private answers. A frontier model for open questions, writing and reasoning. Best of both: C L M decides, and only its uncertain cases go to a frontier model or a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Getting started is small: a few hundred labelled examples, minutes of training in a browser, a laptop or small server. Before real decisions: checked labels, calibrated probabilities, and the governance checklist signed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recommend a four-week pilot on one high-volume workflow: label five hundred real examples, test C L M and a frontier model side by side with the included script, and decide on measured accuracy, cost and latency.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58368"/>
            <a:ext cx="320040" cy="36576"/>
          </a:xfrm>
          <a:prstGeom prst="rect">
            <a:avLst/>
          </a:prstGeom>
          <a:solidFill>
            <a:srgbClr val="2CC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C5AD"/>
                </a:solidFill>
                <a:latin typeface="Calibri"/>
              </a:rPr>
              <a:t>EXECUTIVE BRIEFING ·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502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3F6FA"/>
                </a:solidFill>
                <a:latin typeface="Calibri"/>
              </a:rPr>
              <a:t>CLM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3F6FA"/>
                </a:solidFill>
                <a:latin typeface="Calibri"/>
              </a:rPr>
              <a:t>Fast, cheap, private text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A9B6C8"/>
                </a:solidFill>
                <a:latin typeface="Calibri"/>
              </a:rPr>
              <a:t>When a small trained model beats calling a frontier language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58368"/>
            <a:ext cx="320040" cy="36576"/>
          </a:xfrm>
          <a:prstGeom prst="rect">
            <a:avLst/>
          </a:prstGeom>
          <a:solidFill>
            <a:srgbClr val="2CC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C5AD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502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3F6FA"/>
                </a:solidFill>
                <a:latin typeface="Calibri"/>
              </a:rPr>
              <a:t>CLM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D5F7A"/>
                </a:solidFill>
                <a:latin typeface="Calibri"/>
              </a:rPr>
              <a:t>02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3F6FA"/>
                </a:solidFill>
                <a:latin typeface="Calibri"/>
              </a:rPr>
              <a:t>High-volume classification is a different job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F3F6FA"/>
                </a:solidFill>
                <a:latin typeface="Calibri"/>
              </a:rPr>
              <a:t>• Millions of short, repetitive decisions: route, tag, flag</a:t>
            </a:r>
          </a:p>
          <a:p>
            <a:pPr>
              <a:spcBef>
                <a:spcPts val="1400"/>
              </a:spcBef>
            </a:pPr>
            <a:r>
              <a:rPr sz="2400">
                <a:solidFill>
                  <a:srgbClr val="F3F6FA"/>
                </a:solidFill>
                <a:latin typeface="Calibri"/>
              </a:rPr>
              <a:t>• A fixed set of labels, and past examples of each</a:t>
            </a:r>
          </a:p>
          <a:p>
            <a:pPr>
              <a:spcBef>
                <a:spcPts val="1400"/>
              </a:spcBef>
            </a:pPr>
            <a:r>
              <a:rPr sz="2400">
                <a:solidFill>
                  <a:srgbClr val="F3F6FA"/>
                </a:solidFill>
                <a:latin typeface="Calibri"/>
              </a:rPr>
              <a:t>• Needs to be fast, cheap per decision, private and consistent</a:t>
            </a:r>
          </a:p>
          <a:p>
            <a:pPr>
              <a:spcBef>
                <a:spcPts val="1400"/>
              </a:spcBef>
            </a:pPr>
            <a:r>
              <a:rPr sz="2400">
                <a:solidFill>
                  <a:srgbClr val="F3F6FA"/>
                </a:solidFill>
                <a:latin typeface="Calibri"/>
              </a:rPr>
              <a:t>• A frontier model is a generalist, paid per token, run remotely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58368"/>
            <a:ext cx="320040" cy="36576"/>
          </a:xfrm>
          <a:prstGeom prst="rect">
            <a:avLst/>
          </a:prstGeom>
          <a:solidFill>
            <a:srgbClr val="2CC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C5AD"/>
                </a:solidFill>
                <a:latin typeface="Calibri"/>
              </a:rPr>
              <a:t>THE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502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3F6FA"/>
                </a:solidFill>
                <a:latin typeface="Calibri"/>
              </a:rPr>
              <a:t>CLM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D5F7A"/>
                </a:solidFill>
                <a:latin typeface="Calibri"/>
              </a:rPr>
              <a:t>03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3F6FA"/>
                </a:solidFill>
                <a:latin typeface="Calibri"/>
              </a:rPr>
              <a:t>A frozen reader, a small learner, one fast answer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3291840" cy="54864"/>
          </a:xfrm>
          <a:prstGeom prst="rect">
            <a:avLst/>
          </a:prstGeom>
          <a:solidFill>
            <a:srgbClr val="2CC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3F6FA"/>
                </a:solidFill>
                <a:latin typeface="Calibri"/>
              </a:rPr>
              <a:t>NVIDIA Nemotron reads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A9B6C8"/>
                </a:solidFill>
                <a:latin typeface="Calibri"/>
              </a:rPr>
              <a:t>Turns each text into numbers. Never retrained.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240280"/>
            <a:ext cx="3291840" cy="54864"/>
          </a:xfrm>
          <a:prstGeom prst="rect">
            <a:avLst/>
          </a:prstGeom>
          <a:solidFill>
            <a:srgbClr val="2CC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4231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3F6FA"/>
                </a:solidFill>
                <a:latin typeface="Calibri"/>
              </a:rPr>
              <a:t>A small model learns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24612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A9B6C8"/>
                </a:solidFill>
                <a:latin typeface="Calibri"/>
              </a:rPr>
              <a:t>Our labels, from our examples, in seconds to minutes.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2240280"/>
            <a:ext cx="3291840" cy="54864"/>
          </a:xfrm>
          <a:prstGeom prst="rect">
            <a:avLst/>
          </a:prstGeom>
          <a:solidFill>
            <a:srgbClr val="2CC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24231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3F6FA"/>
                </a:solidFill>
                <a:latin typeface="Calibri"/>
              </a:rPr>
              <a:t>We get the odds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324612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A9B6C8"/>
                </a:solidFill>
                <a:latin typeface="Calibri"/>
              </a:rPr>
              <a:t>A probability per label, in milliseconds, on our hardware.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58368"/>
            <a:ext cx="320040" cy="36576"/>
          </a:xfrm>
          <a:prstGeom prst="rect">
            <a:avLst/>
          </a:prstGeom>
          <a:solidFill>
            <a:srgbClr val="2CC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C5AD"/>
                </a:solidFill>
                <a:latin typeface="Calibri"/>
              </a:rPr>
              <a:t>ACCURACY (MEASURED)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502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3F6FA"/>
                </a:solidFill>
                <a:latin typeface="Calibri"/>
              </a:rPr>
              <a:t>CLM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D5F7A"/>
                </a:solidFill>
                <a:latin typeface="Calibri"/>
              </a:rPr>
              <a:t>04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3F6FA"/>
                </a:solidFill>
                <a:latin typeface="Calibri"/>
              </a:rPr>
              <a:t>Trained on 300 examples: 88% to 96% right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2057400"/>
          <a:ext cx="106070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989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9B6C8"/>
                </a:solidFill>
                <a:latin typeface="Calibri"/>
              </a:rPr>
              <a:t>Support-ticket topics, 5 labels, 100 held-out conversations; 88–96% across 9 training runs (mean 92%). Demo data: synthetic, labelled by a model. Frontier accuracy: measure on our data with Claude Code/tools/compare_frontier.py.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58368"/>
            <a:ext cx="320040" cy="36576"/>
          </a:xfrm>
          <a:prstGeom prst="rect">
            <a:avLst/>
          </a:prstGeom>
          <a:solidFill>
            <a:srgbClr val="2CC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C5AD"/>
                </a:solidFill>
                <a:latin typeface="Calibri"/>
              </a:rPr>
              <a:t>SPEED (MEASURED)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502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3F6FA"/>
                </a:solidFill>
                <a:latin typeface="Calibri"/>
              </a:rPr>
              <a:t>CLM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D5F7A"/>
                </a:solidFill>
                <a:latin typeface="Calibri"/>
              </a:rPr>
              <a:t>05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0" b="1">
                <a:solidFill>
                  <a:srgbClr val="2CC5AD"/>
                </a:solidFill>
                <a:latin typeface="Calibri"/>
              </a:rPr>
              <a:t>33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A9B6C8"/>
                </a:solidFill>
                <a:latin typeface="Calibri"/>
              </a:rPr>
              <a:t>median answer, 43 ms at the 95th percentile, on one laptop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F3F6FA"/>
                </a:solidFill>
                <a:latin typeface="Calibri"/>
              </a:rPr>
              <a:t>• 36 answers per second per laptop: about 3.2 million a day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F3F6FA"/>
                </a:solidFill>
                <a:latin typeface="Calibri"/>
              </a:rPr>
              <a:t>• No network hop, no queue at a provider, no rate limits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F3F6FA"/>
                </a:solidFill>
                <a:latin typeface="Calibri"/>
              </a:rPr>
              <a:t>• Repeated texts answer from cache in about 1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9B6C8"/>
                </a:solidFill>
                <a:latin typeface="Calibri"/>
              </a:rPr>
              <a:t>Apple M5 Pro laptop, Nemotron-3-Embed-1B, end to end. A GPU server is faster. Frontier latency includes network and generation time; the comparison script measures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58368"/>
            <a:ext cx="320040" cy="36576"/>
          </a:xfrm>
          <a:prstGeom prst="rect">
            <a:avLst/>
          </a:prstGeom>
          <a:solidFill>
            <a:srgbClr val="2CC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C5AD"/>
                </a:solidFill>
                <a:latin typeface="Calibri"/>
              </a:rPr>
              <a:t>COST PER MILLION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502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3F6FA"/>
                </a:solidFill>
                <a:latin typeface="Calibri"/>
              </a:rPr>
              <a:t>CLM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D5F7A"/>
                </a:solidFill>
                <a:latin typeface="Calibri"/>
              </a:rPr>
              <a:t>06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3F6FA"/>
                </a:solidFill>
                <a:latin typeface="Calibri"/>
              </a:rPr>
              <a:t>7× to 300× cheaper per million decisions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2057400"/>
          <a:ext cx="106070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989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9B6C8"/>
                </a:solidFill>
                <a:latin typeface="Calibri"/>
              </a:rPr>
              <a:t>CLM: 7.6 compute-hours per million at 36/s, priced at an assumed $1.00/hour. Frontier: Anthropic list prices (Oct 2026) at an estimated 330 input and 50 output tokens per ticket. A floor: thinking tokens add to it. The Batch API halves frontier prices but adds hours of delay.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58368"/>
            <a:ext cx="320040" cy="36576"/>
          </a:xfrm>
          <a:prstGeom prst="rect">
            <a:avLst/>
          </a:prstGeom>
          <a:solidFill>
            <a:srgbClr val="2CC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C5AD"/>
                </a:solidFill>
                <a:latin typeface="Calibri"/>
              </a:rPr>
              <a:t>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502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3F6FA"/>
                </a:solidFill>
                <a:latin typeface="Calibri"/>
              </a:rPr>
              <a:t>CLM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D5F7A"/>
                </a:solidFill>
                <a:latin typeface="Calibri"/>
              </a:rPr>
              <a:t>07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3F6FA"/>
                </a:solidFill>
                <a:latin typeface="Calibri"/>
              </a:rPr>
              <a:t>It stays ours: data, decisions and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F3F6FA"/>
                </a:solidFill>
                <a:latin typeface="Calibri"/>
              </a:rPr>
              <a:t>• Texts never leave our machines; no per-request third party</a:t>
            </a:r>
          </a:p>
          <a:p>
            <a:pPr>
              <a:spcBef>
                <a:spcPts val="1400"/>
              </a:spcBef>
            </a:pPr>
            <a:r>
              <a:rPr sz="2400">
                <a:solidFill>
                  <a:srgbClr val="F3F6FA"/>
                </a:solidFill>
                <a:latin typeface="Calibri"/>
              </a:rPr>
              <a:t>• Same input, same answer: training and serving are reproducible</a:t>
            </a:r>
          </a:p>
          <a:p>
            <a:pPr>
              <a:spcBef>
                <a:spcPts val="1400"/>
              </a:spcBef>
            </a:pPr>
            <a:r>
              <a:rPr sz="2400">
                <a:solidFill>
                  <a:srgbClr val="F3F6FA"/>
                </a:solidFill>
                <a:latin typeface="Calibri"/>
              </a:rPr>
              <a:t>• Verified, versioned model files; export to disk or S3 with checksums</a:t>
            </a:r>
          </a:p>
          <a:p>
            <a:pPr>
              <a:spcBef>
                <a:spcPts val="1400"/>
              </a:spcBef>
            </a:pPr>
            <a:r>
              <a:rPr sz="2400">
                <a:solidFill>
                  <a:srgbClr val="F3F6FA"/>
                </a:solidFill>
                <a:latin typeface="Calibri"/>
              </a:rPr>
              <a:t>• Commercial-use encoder from NVIDIA, built on Mistral AI; lineage documented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58368"/>
            <a:ext cx="320040" cy="36576"/>
          </a:xfrm>
          <a:prstGeom prst="rect">
            <a:avLst/>
          </a:prstGeom>
          <a:solidFill>
            <a:srgbClr val="2CC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C5AD"/>
                </a:solidFill>
                <a:latin typeface="Calibri"/>
              </a:rPr>
              <a:t>CHOOSING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502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3F6FA"/>
                </a:solidFill>
                <a:latin typeface="Calibri"/>
              </a:rPr>
              <a:t>CLM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D5F7A"/>
                </a:solidFill>
                <a:latin typeface="Calibri"/>
              </a:rPr>
              <a:t>08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3F6FA"/>
                </a:solidFill>
                <a:latin typeface="Calibri"/>
              </a:rPr>
              <a:t>Use each where it is strongest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057400"/>
          <a:ext cx="106070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926080"/>
                <a:gridCol w="2926080"/>
              </a:tblGrid>
              <a:tr h="457200">
                <a:tc>
                  <a:txBody>
                    <a:bodyPr/>
                    <a:lstStyle/>
                    <a:p/>
                  </a:txBody>
                  <a:tcPr>
                    <a:solidFill>
                      <a:srgbClr val="152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A9B6C8"/>
                          </a:solidFill>
                          <a:latin typeface="Calibri"/>
                        </a:rPr>
                        <a:t>CLM</a:t>
                      </a:r>
                    </a:p>
                  </a:txBody>
                  <a:tcPr>
                    <a:solidFill>
                      <a:srgbClr val="152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A9B6C8"/>
                          </a:solidFill>
                          <a:latin typeface="Calibri"/>
                        </a:rPr>
                        <a:t>Frontier model</a:t>
                      </a:r>
                    </a:p>
                  </a:txBody>
                  <a:tcPr>
                    <a:solidFill>
                      <a:srgbClr val="1528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3F6FA"/>
                          </a:solidFill>
                          <a:latin typeface="Calibri"/>
                        </a:rPr>
                        <a:t>Fixed labels, with examples</a:t>
                      </a:r>
                    </a:p>
                  </a:txBody>
                  <a:tcPr>
                    <a:solidFill>
                      <a:srgbClr val="0C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CC5AD"/>
                          </a:solidFill>
                          <a:latin typeface="Calibri"/>
                        </a:rPr>
                        <a:t>Best fit</a:t>
                      </a:r>
                    </a:p>
                  </a:txBody>
                  <a:tcPr>
                    <a:solidFill>
                      <a:srgbClr val="0C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3F6FA"/>
                          </a:solidFill>
                          <a:latin typeface="Calibri"/>
                        </a:rPr>
                        <a:t>Works, at a cost</a:t>
                      </a:r>
                    </a:p>
                  </a:txBody>
                  <a:tcPr>
                    <a:solidFill>
                      <a:srgbClr val="0C1A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3F6FA"/>
                          </a:solidFill>
                          <a:latin typeface="Calibri"/>
                        </a:rPr>
                        <a:t>Cost per million decisions</a:t>
                      </a:r>
                    </a:p>
                  </a:txBody>
                  <a:tcPr>
                    <a:solidFill>
                      <a:srgbClr val="0C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CC5AD"/>
                          </a:solidFill>
                          <a:latin typeface="Calibri"/>
                        </a:rPr>
                        <a:t>≈ $8</a:t>
                      </a:r>
                    </a:p>
                  </a:txBody>
                  <a:tcPr>
                    <a:solidFill>
                      <a:srgbClr val="0C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3F6FA"/>
                          </a:solidFill>
                          <a:latin typeface="Calibri"/>
                        </a:rPr>
                        <a:t>$58 to $2,320</a:t>
                      </a:r>
                    </a:p>
                  </a:txBody>
                  <a:tcPr>
                    <a:solidFill>
                      <a:srgbClr val="0C1A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3F6FA"/>
                          </a:solidFill>
                          <a:latin typeface="Calibri"/>
                        </a:rPr>
                        <a:t>Answer in milliseconds</a:t>
                      </a:r>
                    </a:p>
                  </a:txBody>
                  <a:tcPr>
                    <a:solidFill>
                      <a:srgbClr val="0C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CC5A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0C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3F6FA"/>
                          </a:solidFill>
                          <a:latin typeface="Calibri"/>
                        </a:rPr>
                        <a:t>Adds network and generation time</a:t>
                      </a:r>
                    </a:p>
                  </a:txBody>
                  <a:tcPr>
                    <a:solidFill>
                      <a:srgbClr val="0C1A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3F6FA"/>
                          </a:solidFill>
                          <a:latin typeface="Calibri"/>
                        </a:rPr>
                        <a:t>Data must stay inside</a:t>
                      </a:r>
                    </a:p>
                  </a:txBody>
                  <a:tcPr>
                    <a:solidFill>
                      <a:srgbClr val="0C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CC5A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0C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3F6FA"/>
                          </a:solidFill>
                          <a:latin typeface="Calibri"/>
                        </a:rPr>
                        <a:t>Leaves our network</a:t>
                      </a:r>
                    </a:p>
                  </a:txBody>
                  <a:tcPr>
                    <a:solidFill>
                      <a:srgbClr val="0C1A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3F6FA"/>
                          </a:solidFill>
                          <a:latin typeface="Calibri"/>
                        </a:rPr>
                        <a:t>Open questions, writing, reasoning</a:t>
                      </a:r>
                    </a:p>
                  </a:txBody>
                  <a:tcPr>
                    <a:solidFill>
                      <a:srgbClr val="0C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0A04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0C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CC5AD"/>
                          </a:solidFill>
                          <a:latin typeface="Calibri"/>
                        </a:rPr>
                        <a:t>Best fit</a:t>
                      </a:r>
                    </a:p>
                  </a:txBody>
                  <a:tcPr>
                    <a:solidFill>
                      <a:srgbClr val="0C1A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3F6FA"/>
                          </a:solidFill>
                          <a:latin typeface="Calibri"/>
                        </a:rPr>
                        <a:t>No examples, labels change daily</a:t>
                      </a:r>
                    </a:p>
                  </a:txBody>
                  <a:tcPr>
                    <a:solidFill>
                      <a:srgbClr val="0C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0A04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0C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CC5AD"/>
                          </a:solidFill>
                          <a:latin typeface="Calibri"/>
                        </a:rPr>
                        <a:t>Best fit</a:t>
                      </a:r>
                    </a:p>
                  </a:txBody>
                  <a:tcPr>
                    <a:solidFill>
                      <a:srgbClr val="0C1A3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989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9B6C8"/>
                </a:solidFill>
                <a:latin typeface="Calibri"/>
              </a:rPr>
              <a:t>Best of both: let CLM decide, and send its low-confidence cases to a frontier model or a person.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58368"/>
            <a:ext cx="320040" cy="36576"/>
          </a:xfrm>
          <a:prstGeom prst="rect">
            <a:avLst/>
          </a:prstGeom>
          <a:solidFill>
            <a:srgbClr val="2CC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C5AD"/>
                </a:solidFill>
                <a:latin typeface="Calibri"/>
              </a:rPr>
              <a:t>WHAT IT 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502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3F6FA"/>
                </a:solidFill>
                <a:latin typeface="Calibri"/>
              </a:rPr>
              <a:t>CLM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D5F7A"/>
                </a:solidFill>
                <a:latin typeface="Calibri"/>
              </a:rPr>
              <a:t>09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3F6FA"/>
                </a:solidFill>
                <a:latin typeface="Calibri"/>
              </a:rPr>
              <a:t>Days, not quarters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3291840" cy="54864"/>
          </a:xfrm>
          <a:prstGeom prst="rect">
            <a:avLst/>
          </a:prstGeom>
          <a:solidFill>
            <a:srgbClr val="2CC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3F6FA"/>
                </a:solidFill>
                <a:latin typeface="Calibri"/>
              </a:rPr>
              <a:t>300+ labelled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A9B6C8"/>
                </a:solidFill>
                <a:latin typeface="Calibri"/>
              </a:rPr>
              <a:t>Exported from the system that already handles the work.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240280"/>
            <a:ext cx="3291840" cy="54864"/>
          </a:xfrm>
          <a:prstGeom prst="rect">
            <a:avLst/>
          </a:prstGeom>
          <a:solidFill>
            <a:srgbClr val="2CC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4231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3F6FA"/>
                </a:solidFill>
                <a:latin typeface="Calibri"/>
              </a:rPr>
              <a:t>Minutes to 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24612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A9B6C8"/>
                </a:solidFill>
                <a:latin typeface="Calibri"/>
              </a:rPr>
              <a:t>In a browser: upload, describe the labels, train, test.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2240280"/>
            <a:ext cx="3291840" cy="54864"/>
          </a:xfrm>
          <a:prstGeom prst="rect">
            <a:avLst/>
          </a:prstGeom>
          <a:solidFill>
            <a:srgbClr val="2CC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24231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3F6FA"/>
                </a:solidFill>
                <a:latin typeface="Calibri"/>
              </a:rPr>
              <a:t>One laptop or small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324612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A9B6C8"/>
                </a:solidFill>
                <a:latin typeface="Calibri"/>
              </a:rPr>
              <a:t>No GPU required; standalone, no external calls.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89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9B6C8"/>
                </a:solidFill>
                <a:latin typeface="Calibri"/>
              </a:rPr>
              <a:t>Before real decisions: human-checked labels, calibrated probabilities, and the new-model checklist.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58368"/>
            <a:ext cx="320040" cy="36576"/>
          </a:xfrm>
          <a:prstGeom prst="rect">
            <a:avLst/>
          </a:prstGeom>
          <a:solidFill>
            <a:srgbClr val="2CC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C5AD"/>
                </a:solidFill>
                <a:latin typeface="Calibri"/>
              </a:rPr>
              <a:t>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502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3F6FA"/>
                </a:solidFill>
                <a:latin typeface="Calibri"/>
              </a:rPr>
              <a:t>CLM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D5F7A"/>
                </a:solidFill>
                <a:latin typeface="Calibri"/>
              </a:rPr>
              <a:t>10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3F6FA"/>
                </a:solidFill>
                <a:latin typeface="Calibri"/>
              </a:rPr>
              <a:t>A four-week pilot on one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F3F6FA"/>
                </a:solidFill>
                <a:latin typeface="Calibri"/>
              </a:rPr>
              <a:t>• Pick one high-volume routing or triage workflow</a:t>
            </a:r>
          </a:p>
          <a:p>
            <a:pPr>
              <a:spcBef>
                <a:spcPts val="1400"/>
              </a:spcBef>
            </a:pPr>
            <a:r>
              <a:rPr sz="2400">
                <a:solidFill>
                  <a:srgbClr val="F3F6FA"/>
                </a:solidFill>
                <a:latin typeface="Calibri"/>
              </a:rPr>
              <a:t>• Label 500 real examples; train and test CLM</a:t>
            </a:r>
          </a:p>
          <a:p>
            <a:pPr>
              <a:spcBef>
                <a:spcPts val="1400"/>
              </a:spcBef>
            </a:pPr>
            <a:r>
              <a:rPr sz="2400">
                <a:solidFill>
                  <a:srgbClr val="F3F6FA"/>
                </a:solidFill>
                <a:latin typeface="Calibri"/>
              </a:rPr>
              <a:t>• Run the same test through a frontier model with the included script</a:t>
            </a:r>
          </a:p>
          <a:p>
            <a:pPr>
              <a:spcBef>
                <a:spcPts val="1400"/>
              </a:spcBef>
            </a:pPr>
            <a:r>
              <a:rPr sz="2400">
                <a:solidFill>
                  <a:srgbClr val="F3F6FA"/>
                </a:solidFill>
                <a:latin typeface="Calibri"/>
              </a:rPr>
              <a:t>• Decide on measured accuracy, cost and latency, with governance sign-off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