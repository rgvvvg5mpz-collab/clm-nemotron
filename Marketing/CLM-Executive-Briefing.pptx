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B9C0CB"/>
              </a:solidFill>
            </c:spPr>
          </c:dPt>
          <c:dPt>
            <c:idx val="1"/>
            <c:spPr>
              <a:solidFill>
                <a:srgbClr val="B9C0CB"/>
              </a:solidFill>
            </c:spPr>
          </c:dPt>
          <c:dPt>
            <c:idx val="2"/>
            <c:spPr>
              <a:solidFill>
                <a:srgbClr val="0F7B6C"/>
              </a:solidFill>
            </c:spPr>
          </c:dPt>
          <c:cat>
            <c:strRef>
              <c:f>Sheet1!$A$2:$A$4</c:f>
              <c:strCache>
                <c:ptCount val="3"/>
                <c:pt idx="0">
                  <c:v>Always guess the commonest label</c:v>
                </c:pt>
                <c:pt idx="1">
                  <c:v>Same reader, no training</c:v>
                </c:pt>
                <c:pt idx="2">
                  <c:v>Trained CLM model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57</c:v>
                </c:pt>
                <c:pt idx="2">
                  <c:v>88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2.0000000000000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D9622B"/>
              </a:solidFill>
            </c:spPr>
          </c:dPt>
          <c:dPt>
            <c:idx val="1"/>
            <c:spPr>
              <a:solidFill>
                <a:srgbClr val="B9C0CB"/>
              </a:solidFill>
            </c:spPr>
          </c:dPt>
          <c:dPt>
            <c:idx val="2"/>
            <c:spPr>
              <a:solidFill>
                <a:srgbClr val="B9C0CB"/>
              </a:solidFill>
            </c:spPr>
          </c:dPt>
          <c:dPt>
            <c:idx val="3"/>
            <c:spPr>
              <a:solidFill>
                <a:srgbClr val="0F7B6C"/>
              </a:solidFill>
            </c:spPr>
          </c:dPt>
          <c:cat>
            <c:strRef>
              <c:f>Sheet1!$A$2:$A$5</c:f>
              <c:strCache>
                <c:ptCount val="4"/>
                <c:pt idx="0">
                  <c:v>Opus 5.5</c:v>
                </c:pt>
                <c:pt idx="1">
                  <c:v>Sonnet 5.5</c:v>
                </c:pt>
                <c:pt idx="2">
                  <c:v>Haiku 5.5</c:v>
                </c:pt>
                <c:pt idx="3">
                  <c:v>CLM on own hardware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2320.0</c:v>
                </c:pt>
                <c:pt idx="1">
                  <c:v>1160.0</c:v>
                </c:pt>
                <c:pt idx="2">
                  <c:v>58.0</c:v>
                </c:pt>
                <c:pt idx="3">
                  <c:v>7.610350076103501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9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day our teams route tickets, tag documents and triage alerts, and many now send each decision to a frontier language model. Here's when a small trained classifier does that job better: cheaper, faster, and inside our walls.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Classification at volume is millions of short, repetitive decisions with fixed labels and plenty of past examples. What matters is speed, cost per decision, privacy and consistency. A frontier model is a brilliant generalist, but we pay per token, and every request leaves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L M splits the work. An NVIDIA Nemotron model reads each text and never changes. A small model on top learns our labels from our own examples, in minutes, from a browser. We get a probability for every label, in milliseconds, on our own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a ticket-routing demo, a model trained on three hundred examples gets eighty-eight to ninety-six percent of unseen tickets right. Untrained, the same reader manages fifty-seven percent. The demo data is synthetic, so the real test is our own data, against a frontier model, with the included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It's fast: a median of thirty-three milliseconds on one laptop, with no network hop, queue or rate limit. One laptop handles about thirty-six answers a second, roughly three million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it's cheap. A million decisions take about eight hours of laptop compute, around eight dollars. At list prices, the same million tickets cost about fifty-eight dollars on the smallest frontier model, and over a thousand on the larger ones. Conservative estimates, for the frontier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stays ours. Texts never leave our machines, the same input gives the same answer, and model files are versioned and verified, with a full governance pack in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each where it's strongest. C L M for fixed labels, high volume, and fast, private answers. A frontier model for open questions, writing and reasoning. Best of both: C L M decides, and only its uncertain cases go to a frontier model or a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Getting started is small: a few hundred labelled examples, minutes of training in a browser, and a laptop or small server. Before real decisions, people check the labels, the probabilities are calibrated, and the governance checklist is signed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recommend a four-week pilot on one high-volume workflow: label five hundred real examples, test C L M and a frontier model side by side with the included script, and decide on measured accuracy, cost and latency.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EXECUTIVE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0213A"/>
                </a:solidFill>
                <a:latin typeface="Calibri"/>
              </a:rPr>
              <a:t>Fast, cheap, private text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A6476"/>
                </a:solidFill>
                <a:latin typeface="Calibri"/>
              </a:rPr>
              <a:t>When a small trained model beats calling a frontier language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THE JOB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213A"/>
                </a:solidFill>
                <a:latin typeface="Calibri"/>
              </a:rPr>
              <a:t>High-volume classification is a different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0213A"/>
                </a:solidFill>
                <a:latin typeface="Calibri"/>
              </a:rPr>
              <a:t>• Millions of short, repetitive decisions: route, tag, flag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A fixed set of labels, and past examples of each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Needs to be fast, cheap per decision, private and consistent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A frontier model is a generalist, paid per token, run remotely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213A"/>
                </a:solidFill>
                <a:latin typeface="Calibri"/>
              </a:rPr>
              <a:t>A frozen reader, a small learner, one fast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40280"/>
            <a:ext cx="3291840" cy="54864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0213A"/>
                </a:solidFill>
                <a:latin typeface="Calibri"/>
              </a:rPr>
              <a:t>NVIDIA Nemotron 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A6476"/>
                </a:solidFill>
                <a:latin typeface="Calibri"/>
              </a:rPr>
              <a:t>Turns each text into numbers. Never retrained.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240280"/>
            <a:ext cx="3291840" cy="54864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4231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0213A"/>
                </a:solidFill>
                <a:latin typeface="Calibri"/>
              </a:rPr>
              <a:t>A small model learns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246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A6476"/>
                </a:solidFill>
                <a:latin typeface="Calibri"/>
              </a:rPr>
              <a:t>Our labels, from our examples, in seconds to minutes.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2240280"/>
            <a:ext cx="3291840" cy="54864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24231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0213A"/>
                </a:solidFill>
                <a:latin typeface="Calibri"/>
              </a:rPr>
              <a:t>We get the odds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3246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A6476"/>
                </a:solidFill>
                <a:latin typeface="Calibri"/>
              </a:rPr>
              <a:t>A probability per label, in milliseconds, on our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ACCURACY (MEASURED)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213A"/>
                </a:solidFill>
                <a:latin typeface="Calibri"/>
              </a:rPr>
              <a:t>Trained on 300 examples: 88% to 96% right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2057400"/>
          <a:ext cx="106070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89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6476"/>
                </a:solidFill>
                <a:latin typeface="Calibri"/>
              </a:rPr>
              <a:t>Support-ticket topics, 5 labels, 100 held-out conversations; 88–96% across 9 training runs (mean 92%). Demo data: synthetic, labelled by a model. Frontier accuracy: measure on our data with Marketing/benchmark/compare_frontier.py.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SPEED (MEASURED)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0" b="1">
                <a:solidFill>
                  <a:srgbClr val="0F7B6C"/>
                </a:solidFill>
                <a:latin typeface="Calibri"/>
              </a:rPr>
              <a:t>33 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5A6476"/>
                </a:solidFill>
                <a:latin typeface="Calibri"/>
              </a:rPr>
              <a:t>median answer, 43 ms at the 95th percentile, on one laptop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0213A"/>
                </a:solidFill>
                <a:latin typeface="Calibri"/>
              </a:rPr>
              <a:t>• 36 answers per second per laptop: about 3.2 million a day</a:t>
            </a:r>
          </a:p>
          <a:p>
            <a:pPr>
              <a:spcBef>
                <a:spcPts val="1200"/>
              </a:spcBef>
            </a:pPr>
            <a:r>
              <a:rPr sz="2200">
                <a:solidFill>
                  <a:srgbClr val="10213A"/>
                </a:solidFill>
                <a:latin typeface="Calibri"/>
              </a:rPr>
              <a:t>• No network hop, no queue at a provider, no rate limits</a:t>
            </a:r>
          </a:p>
          <a:p>
            <a:pPr>
              <a:spcBef>
                <a:spcPts val="1200"/>
              </a:spcBef>
            </a:pPr>
            <a:r>
              <a:rPr sz="2200">
                <a:solidFill>
                  <a:srgbClr val="10213A"/>
                </a:solidFill>
                <a:latin typeface="Calibri"/>
              </a:rPr>
              <a:t>• Repeated texts answer from cache in about 1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6476"/>
                </a:solidFill>
                <a:latin typeface="Calibri"/>
              </a:rPr>
              <a:t>Apple M5 Pro laptop, Nemotron-3-Embed-1B, end to end. A GPU server is faster. Frontier latency includes network and generation time; the comparison script measures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COST PER MILLION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213A"/>
                </a:solidFill>
                <a:latin typeface="Calibri"/>
              </a:rPr>
              <a:t>7× to 300× cheaper per million decisions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31520" y="2057400"/>
          <a:ext cx="106070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89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6476"/>
                </a:solidFill>
                <a:latin typeface="Calibri"/>
              </a:rPr>
              <a:t>CLM: 7.6 compute-hours per million at 36/s, priced at an assumed $1.00/hour. Frontier: Anthropic list prices (Oct 2026) at an estimated 330 input and 50 output tokens per ticket. A floor: thinking tokens add to it. The Batch API halves frontier prices but adds hours of delay.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213A"/>
                </a:solidFill>
                <a:latin typeface="Calibri"/>
              </a:rPr>
              <a:t>It stays ours: data, decisions and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0213A"/>
                </a:solidFill>
                <a:latin typeface="Calibri"/>
              </a:rPr>
              <a:t>• Texts never leave our machines; no per-request third party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Same input, same answer: training and serving are reproducible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Verified, versioned model files; a full governance pack in the repo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Commercial-use encoder from NVIDIA, built on Mistral AI; lineage documented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CHOOSING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213A"/>
                </a:solidFill>
                <a:latin typeface="Calibri"/>
              </a:rPr>
              <a:t>Use each where it is strongest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57400"/>
          <a:ext cx="10607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926080"/>
                <a:gridCol w="2926080"/>
              </a:tblGrid>
              <a:tr h="457200"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213A"/>
                          </a:solidFill>
                          <a:latin typeface="Calibri"/>
                        </a:rPr>
                        <a:t>CLM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213A"/>
                          </a:solidFill>
                          <a:latin typeface="Calibri"/>
                        </a:rPr>
                        <a:t>Frontier model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Fixed labels, with examples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7B6C"/>
                          </a:solidFill>
                          <a:latin typeface="Calibri"/>
                        </a:rPr>
                        <a:t>Best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Works, at a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Cost per million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7B6C"/>
                          </a:solidFill>
                          <a:latin typeface="Calibri"/>
                        </a:rPr>
                        <a:t>≈ 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$58 to $2,320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Answer in milliseconds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7B6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Adds network and generation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Data must stay inside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7B6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Leaves our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Open questions, writing,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D962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7B6C"/>
                          </a:solidFill>
                          <a:latin typeface="Calibri"/>
                        </a:rPr>
                        <a:t>Best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13A"/>
                          </a:solidFill>
                          <a:latin typeface="Calibri"/>
                        </a:rPr>
                        <a:t>No examples, labels change daily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D962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F7B6C"/>
                          </a:solidFill>
                          <a:latin typeface="Calibri"/>
                        </a:rPr>
                        <a:t>Best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989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6476"/>
                </a:solidFill>
                <a:latin typeface="Calibri"/>
              </a:rPr>
              <a:t>Best of both: let CLM decide, and send its low-confidence cases to a frontier model or a person.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WHAT IT 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213A"/>
                </a:solidFill>
                <a:latin typeface="Calibri"/>
              </a:rPr>
              <a:t>Days, not quarters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40280"/>
            <a:ext cx="3291840" cy="54864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0213A"/>
                </a:solidFill>
                <a:latin typeface="Calibri"/>
              </a:rPr>
              <a:t>300+ labelled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A6476"/>
                </a:solidFill>
                <a:latin typeface="Calibri"/>
              </a:rPr>
              <a:t>Exported from the system that already handles the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240280"/>
            <a:ext cx="3291840" cy="54864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4231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0213A"/>
                </a:solidFill>
                <a:latin typeface="Calibri"/>
              </a:rPr>
              <a:t>Minutes to train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246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A6476"/>
                </a:solidFill>
                <a:latin typeface="Calibri"/>
              </a:rPr>
              <a:t>In a browser: upload, describe the labels, train, test.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0" y="2240280"/>
            <a:ext cx="3291840" cy="54864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0" y="24231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0213A"/>
                </a:solidFill>
                <a:latin typeface="Calibri"/>
              </a:rPr>
              <a:t>One laptop or small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0" y="324612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A6476"/>
                </a:solidFill>
                <a:latin typeface="Calibri"/>
              </a:rPr>
              <a:t>No GPU required; standalone, no external calls.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6476"/>
                </a:solidFill>
                <a:latin typeface="Calibri"/>
              </a:rPr>
              <a:t>Before real decisions: human-checked labels, calibrated probabilities, and the new-model checklist.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7B6C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502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7B6C"/>
                </a:solidFill>
                <a:latin typeface="Calibri"/>
              </a:rPr>
              <a:t>CLM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213A"/>
                </a:solidFill>
                <a:latin typeface="Calibri"/>
              </a:rPr>
              <a:t>A four-week pilot on one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0213A"/>
                </a:solidFill>
                <a:latin typeface="Calibri"/>
              </a:rPr>
              <a:t>• Pick one high-volume routing or triage workflow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Label 500 real examples; train and test CLM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Run the same test through a frontier model with the included script</a:t>
            </a:r>
          </a:p>
          <a:p>
            <a:pPr>
              <a:spcBef>
                <a:spcPts val="1400"/>
              </a:spcBef>
            </a:pPr>
            <a:r>
              <a:rPr sz="2400">
                <a:solidFill>
                  <a:srgbClr val="10213A"/>
                </a:solidFill>
                <a:latin typeface="Calibri"/>
              </a:rPr>
              <a:t>• Decide on measured accuracy, cost and latency, with governance sign-off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